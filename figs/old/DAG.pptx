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92"/>
    <p:restoredTop sz="86431"/>
  </p:normalViewPr>
  <p:slideViewPr>
    <p:cSldViewPr snapToGrid="0">
      <p:cViewPr>
        <p:scale>
          <a:sx n="241" d="100"/>
          <a:sy n="241" d="100"/>
        </p:scale>
        <p:origin x="-360" y="-49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64F48-BE2F-2A4A-95B9-7CF8A24FE977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0C3E9-300E-2144-9E9B-AA4A45C73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14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C3E9-300E-2144-9E9B-AA4A45C73C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18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C3E9-300E-2144-9E9B-AA4A45C73C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479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E62DC-6AED-8238-C048-675C6C70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5AB63-DD46-A548-4877-87E420C47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22971-96D1-9736-4588-5C6E07C76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48B68-9B38-0B40-4E38-F2E31B9E2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C3E9-300E-2144-9E9B-AA4A45C73C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98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4C750-4EFB-81FE-A2DA-3FA77D71D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52234-42E9-64CA-0F7D-8222E31FA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EA29A-B852-2307-C606-31C8BEF55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1DDD8-E14B-47BD-1041-2EE2E4942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C3E9-300E-2144-9E9B-AA4A45C73CA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21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3118F-A748-6241-B2C3-81070D10C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7E384-88EE-08B9-997F-6786FBEED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587008-E530-8147-B407-B6358DFF7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E049-F5C5-8508-1DFC-2F319B7D8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C3E9-300E-2144-9E9B-AA4A45C73C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70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FCE88-AE4F-596B-89CD-BD584E90B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05926-B0EC-CC6C-D573-B3B097D68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53609-4EC4-8F69-39F5-58FBE3BA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678-4B94-6347-98AC-3A9C72CF5E48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17498-DD51-FFA9-4CB5-E65ED2F1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6614C-1AEB-B770-824D-EBBB650F9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668E-5F4C-BB45-9E60-FDDC9B697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64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66719-FB72-6FA8-4263-1ABF00791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A73F1-23E1-C59A-B029-FAEE88FFC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404C5-CA66-5620-48F8-54B7394A0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678-4B94-6347-98AC-3A9C72CF5E48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CDEF8-CE95-95AC-1F9E-6989D04A6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5B6FD-C8A7-2FA0-CBB7-0D691EBD7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668E-5F4C-BB45-9E60-FDDC9B697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19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F45C4-8BCA-6D2A-0C84-E376FDEB4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0CB8B-7457-DCD8-A270-BCB3554F3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F92BA-845B-6E70-ADEB-418E37654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678-4B94-6347-98AC-3A9C72CF5E48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0F755-33E5-FA48-F1FE-EEF2BAA1F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62522-D14A-5A7B-2F43-67DAEF38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668E-5F4C-BB45-9E60-FDDC9B697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01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9E38D-65C3-B3E2-929A-380F7FC93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19837-083E-4956-DB91-C28628C66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CF4F7-6537-4D3B-441C-24694F4D8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1381B-D9B7-596B-CCF8-46D3A895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678-4B94-6347-98AC-3A9C72CF5E48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032D8-5409-6F08-7C6F-BC06CAE5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19F96-FC64-4C2B-D419-60B46A3A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668E-5F4C-BB45-9E60-FDDC9B697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96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75E9-0D85-6BC3-16B3-D1CC2BCB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3EA4D-2635-AEFB-1E44-00DC20C18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27C9E-C0D2-E329-875D-3D3CA9A8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B97037-38E2-169B-2B9C-4AD6A3D6E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F8F58-C7A8-486E-B976-34F882407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21286C-C701-3F14-C469-BC1EC3616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678-4B94-6347-98AC-3A9C72CF5E48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02D89E-E8E8-1EF0-868C-59F9F52F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EC0EBE-63C7-F284-292F-3A03938DC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668E-5F4C-BB45-9E60-FDDC9B697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57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6663-1B7B-EA83-5E3A-29A5C42E1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8B6D6-714F-7C4D-C793-E4005A8B9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678-4B94-6347-98AC-3A9C72CF5E48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88F4E-1DC4-AB81-D4AD-CD6261FA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F6B074-20A7-FC27-BDC8-523E13F1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668E-5F4C-BB45-9E60-FDDC9B697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41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5EF66-466D-392A-5830-E1A51CB9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678-4B94-6347-98AC-3A9C72CF5E48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F59926-9296-E6EB-5555-09A43FE6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D4DB5-09C8-8D69-1A2D-FBBC13ABC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668E-5F4C-BB45-9E60-FDDC9B697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29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2EC6-3728-5D30-151A-B02A0ECDB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8D93C-E182-6101-6A49-F5DDF1010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B272F-E90F-D2B3-7B86-8F1D27F34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197C9-3B5E-B540-D7FA-BD25F18F3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678-4B94-6347-98AC-3A9C72CF5E48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91669-60DF-4530-B77F-BD07BACD0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63080-06D7-9E2F-8323-DB16D5E8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668E-5F4C-BB45-9E60-FDDC9B697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81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12BF-E450-C533-5DC8-8953AA8E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E2B49D-8543-F862-B193-AB457C19B8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DFFBD-B66D-5380-420F-1AA2A470A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ADE96-C762-CF8A-098B-67E652266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678-4B94-6347-98AC-3A9C72CF5E48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CD28C-BDD0-7CA0-98A4-FB3C30363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61C78-7620-2214-3DBB-E48D247AD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668E-5F4C-BB45-9E60-FDDC9B697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75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0273-9A57-76B3-63AE-2673F5FC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AF309C-53DC-A9AB-58AD-5E9DE2DC0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3644A-CE2A-CA58-CB73-17CE22ACE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678-4B94-6347-98AC-3A9C72CF5E48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2D93D-D040-EB29-CA76-5ABEA60B7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D3681-3080-D99B-8AF5-87F455720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668E-5F4C-BB45-9E60-FDDC9B697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4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4D5558-390A-E4FB-3343-BAB5EF6DB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C2241-31EA-6940-71F2-49ABFDD7B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25CAA-C028-BE34-CDD2-B1FE344FD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678-4B94-6347-98AC-3A9C72CF5E48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57A4D-2F02-361B-9194-2248444A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D5ACC-82EC-8BC3-C704-1CF08DF2D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668E-5F4C-BB45-9E60-FDDC9B697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84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5E0474-2F30-D1D4-0F6F-15EE1C399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DBBAE-54E1-8FB1-3C22-93A8616B0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C4DD0-6A98-4DE4-D60F-B1BA2A4A7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69678-4B94-6347-98AC-3A9C72CF5E48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25107-FA03-5035-4F6C-FF56A4DED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BDCE4-C2B9-CE1A-C540-C4974E1C8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1668E-5F4C-BB45-9E60-FDDC9B697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5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E6CB2FE-CB3A-8A88-5F93-78AEF94AFF7C}"/>
              </a:ext>
            </a:extLst>
          </p:cNvPr>
          <p:cNvSpPr/>
          <p:nvPr/>
        </p:nvSpPr>
        <p:spPr>
          <a:xfrm>
            <a:off x="467833" y="606054"/>
            <a:ext cx="3317358" cy="2658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F82FD4-27DA-1A3F-B653-B554BFC41DAF}"/>
              </a:ext>
            </a:extLst>
          </p:cNvPr>
          <p:cNvSpPr/>
          <p:nvPr/>
        </p:nvSpPr>
        <p:spPr>
          <a:xfrm>
            <a:off x="4320364" y="606053"/>
            <a:ext cx="3317358" cy="2658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C5389-22AC-294B-E73E-B296C458006C}"/>
              </a:ext>
            </a:extLst>
          </p:cNvPr>
          <p:cNvSpPr/>
          <p:nvPr/>
        </p:nvSpPr>
        <p:spPr>
          <a:xfrm>
            <a:off x="8296940" y="606052"/>
            <a:ext cx="3317358" cy="2658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0F76AC-3F38-5012-C293-264F6DA2E19D}"/>
              </a:ext>
            </a:extLst>
          </p:cNvPr>
          <p:cNvSpPr/>
          <p:nvPr/>
        </p:nvSpPr>
        <p:spPr>
          <a:xfrm>
            <a:off x="467833" y="4065189"/>
            <a:ext cx="3317358" cy="2658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AEA809-8B26-4E7B-21FF-F3FBADA7403E}"/>
              </a:ext>
            </a:extLst>
          </p:cNvPr>
          <p:cNvSpPr/>
          <p:nvPr/>
        </p:nvSpPr>
        <p:spPr>
          <a:xfrm>
            <a:off x="4320363" y="4065189"/>
            <a:ext cx="3317359" cy="2658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6CFD49-0D9F-D034-E4FE-0331BDACC5DB}"/>
              </a:ext>
            </a:extLst>
          </p:cNvPr>
          <p:cNvSpPr/>
          <p:nvPr/>
        </p:nvSpPr>
        <p:spPr>
          <a:xfrm>
            <a:off x="752254" y="1536400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4945EB-018B-0DA4-9A6B-F05D008C2FA6}"/>
              </a:ext>
            </a:extLst>
          </p:cNvPr>
          <p:cNvSpPr/>
          <p:nvPr/>
        </p:nvSpPr>
        <p:spPr>
          <a:xfrm>
            <a:off x="2610294" y="1536400"/>
            <a:ext cx="786809" cy="797442"/>
          </a:xfrm>
          <a:prstGeom prst="ellipse">
            <a:avLst/>
          </a:prstGeom>
          <a:solidFill>
            <a:srgbClr val="FF0000">
              <a:alpha val="3045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96307-8B66-F8F2-DF8E-E7489EE88D6B}"/>
              </a:ext>
            </a:extLst>
          </p:cNvPr>
          <p:cNvSpPr txBox="1"/>
          <p:nvPr/>
        </p:nvSpPr>
        <p:spPr>
          <a:xfrm>
            <a:off x="670070" y="1741222"/>
            <a:ext cx="929613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Smoke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56AA8E-1AD5-7E92-3D6B-62B469D349DA}"/>
              </a:ext>
            </a:extLst>
          </p:cNvPr>
          <p:cNvSpPr txBox="1"/>
          <p:nvPr/>
        </p:nvSpPr>
        <p:spPr>
          <a:xfrm>
            <a:off x="2506992" y="1741222"/>
            <a:ext cx="99149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Cancer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5233813-D057-AC38-EB4E-A80AF1CAD999}"/>
              </a:ext>
            </a:extLst>
          </p:cNvPr>
          <p:cNvCxnSpPr/>
          <p:nvPr/>
        </p:nvCxnSpPr>
        <p:spPr>
          <a:xfrm>
            <a:off x="1711842" y="1935121"/>
            <a:ext cx="691116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288DB06-0082-4FBA-AADB-2B34CD9061CB}"/>
              </a:ext>
            </a:extLst>
          </p:cNvPr>
          <p:cNvSpPr txBox="1"/>
          <p:nvPr/>
        </p:nvSpPr>
        <p:spPr>
          <a:xfrm>
            <a:off x="351346" y="-5296"/>
            <a:ext cx="115527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A)</a:t>
            </a:r>
            <a:r>
              <a:rPr lang="en-US" sz="3200" dirty="0"/>
              <a:t> Direct causation       </a:t>
            </a:r>
            <a:r>
              <a:rPr lang="en-US" sz="3200" b="1" dirty="0"/>
              <a:t>B)</a:t>
            </a:r>
            <a:r>
              <a:rPr lang="en-US" sz="3200" dirty="0"/>
              <a:t> A confound                </a:t>
            </a:r>
            <a:r>
              <a:rPr lang="en-US" sz="3200" b="1" dirty="0"/>
              <a:t> C) </a:t>
            </a:r>
            <a:r>
              <a:rPr lang="en-US" sz="3200" dirty="0"/>
              <a:t>A pipe (mediator)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A61F00B-E1F0-F2F4-E2F9-C78D2C852743}"/>
              </a:ext>
            </a:extLst>
          </p:cNvPr>
          <p:cNvSpPr/>
          <p:nvPr/>
        </p:nvSpPr>
        <p:spPr>
          <a:xfrm>
            <a:off x="4633143" y="1536400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02E2CDD-FC07-0E00-F36D-39BB6ED48B44}"/>
              </a:ext>
            </a:extLst>
          </p:cNvPr>
          <p:cNvSpPr/>
          <p:nvPr/>
        </p:nvSpPr>
        <p:spPr>
          <a:xfrm>
            <a:off x="6491183" y="887808"/>
            <a:ext cx="786809" cy="797442"/>
          </a:xfrm>
          <a:prstGeom prst="ellipse">
            <a:avLst/>
          </a:prstGeom>
          <a:solidFill>
            <a:srgbClr val="FF0000">
              <a:alpha val="3045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6EC54B-D6D7-2601-C531-08458FB4547A}"/>
              </a:ext>
            </a:extLst>
          </p:cNvPr>
          <p:cNvSpPr txBox="1"/>
          <p:nvPr/>
        </p:nvSpPr>
        <p:spPr>
          <a:xfrm>
            <a:off x="4572225" y="1741222"/>
            <a:ext cx="87928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Genes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27DA71-2404-1584-1572-BE0EF9FCD922}"/>
              </a:ext>
            </a:extLst>
          </p:cNvPr>
          <p:cNvSpPr txBox="1"/>
          <p:nvPr/>
        </p:nvSpPr>
        <p:spPr>
          <a:xfrm>
            <a:off x="6387881" y="1092630"/>
            <a:ext cx="99149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Cancer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CF4A77-6E35-DDE5-A753-B7DC34606679}"/>
              </a:ext>
            </a:extLst>
          </p:cNvPr>
          <p:cNvCxnSpPr>
            <a:cxnSpLocks/>
          </p:cNvCxnSpPr>
          <p:nvPr/>
        </p:nvCxnSpPr>
        <p:spPr>
          <a:xfrm>
            <a:off x="5592731" y="2020183"/>
            <a:ext cx="712376" cy="3430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CFD3B77-CCEE-64C0-9220-A2B5CB7730E2}"/>
              </a:ext>
            </a:extLst>
          </p:cNvPr>
          <p:cNvSpPr/>
          <p:nvPr/>
        </p:nvSpPr>
        <p:spPr>
          <a:xfrm>
            <a:off x="6491183" y="2158404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9AB955-9B3E-177F-2B1E-F76E5C521880}"/>
              </a:ext>
            </a:extLst>
          </p:cNvPr>
          <p:cNvSpPr txBox="1"/>
          <p:nvPr/>
        </p:nvSpPr>
        <p:spPr>
          <a:xfrm>
            <a:off x="6409147" y="2363226"/>
            <a:ext cx="929613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Smoke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38B96A8-242A-904B-55A1-1DC67FA20EB5}"/>
              </a:ext>
            </a:extLst>
          </p:cNvPr>
          <p:cNvCxnSpPr>
            <a:cxnSpLocks/>
          </p:cNvCxnSpPr>
          <p:nvPr/>
        </p:nvCxnSpPr>
        <p:spPr>
          <a:xfrm flipV="1">
            <a:off x="5620299" y="1371596"/>
            <a:ext cx="684808" cy="31921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6CC246B6-25CE-FC3A-A1A5-D509D28CE742}"/>
              </a:ext>
            </a:extLst>
          </p:cNvPr>
          <p:cNvSpPr/>
          <p:nvPr/>
        </p:nvSpPr>
        <p:spPr>
          <a:xfrm>
            <a:off x="8390864" y="848080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B0A025-C6F8-DDD7-0549-DF18BD95587F}"/>
              </a:ext>
            </a:extLst>
          </p:cNvPr>
          <p:cNvSpPr txBox="1"/>
          <p:nvPr/>
        </p:nvSpPr>
        <p:spPr>
          <a:xfrm>
            <a:off x="8329946" y="1052902"/>
            <a:ext cx="87928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Genes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6FE8D5E-CF5E-2121-03FC-77F7DE530B85}"/>
              </a:ext>
            </a:extLst>
          </p:cNvPr>
          <p:cNvSpPr/>
          <p:nvPr/>
        </p:nvSpPr>
        <p:spPr>
          <a:xfrm>
            <a:off x="9568067" y="1645522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132C8F-00A5-E47A-F3C0-2FB281355FCC}"/>
              </a:ext>
            </a:extLst>
          </p:cNvPr>
          <p:cNvSpPr txBox="1"/>
          <p:nvPr/>
        </p:nvSpPr>
        <p:spPr>
          <a:xfrm>
            <a:off x="9486031" y="1850344"/>
            <a:ext cx="929613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Smoke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CFE13F1-D157-1D47-DF52-D0BA39FB0026}"/>
              </a:ext>
            </a:extLst>
          </p:cNvPr>
          <p:cNvSpPr/>
          <p:nvPr/>
        </p:nvSpPr>
        <p:spPr>
          <a:xfrm>
            <a:off x="10692107" y="2442964"/>
            <a:ext cx="786809" cy="797442"/>
          </a:xfrm>
          <a:prstGeom prst="ellipse">
            <a:avLst/>
          </a:prstGeom>
          <a:solidFill>
            <a:srgbClr val="FF0000">
              <a:alpha val="3045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F4CBEC-490C-AE0D-899B-C438A983677E}"/>
              </a:ext>
            </a:extLst>
          </p:cNvPr>
          <p:cNvSpPr txBox="1"/>
          <p:nvPr/>
        </p:nvSpPr>
        <p:spPr>
          <a:xfrm>
            <a:off x="10588805" y="2647786"/>
            <a:ext cx="99149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Cancer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505752D-0D67-B4E5-A0FB-C59F34221D7D}"/>
              </a:ext>
            </a:extLst>
          </p:cNvPr>
          <p:cNvCxnSpPr>
            <a:cxnSpLocks/>
          </p:cNvCxnSpPr>
          <p:nvPr/>
        </p:nvCxnSpPr>
        <p:spPr>
          <a:xfrm>
            <a:off x="9199806" y="1556014"/>
            <a:ext cx="431191" cy="26829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D4788A5-87CF-7098-A919-4EA19DA1B37C}"/>
              </a:ext>
            </a:extLst>
          </p:cNvPr>
          <p:cNvCxnSpPr>
            <a:cxnSpLocks/>
          </p:cNvCxnSpPr>
          <p:nvPr/>
        </p:nvCxnSpPr>
        <p:spPr>
          <a:xfrm>
            <a:off x="10341310" y="2295532"/>
            <a:ext cx="431191" cy="26829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D305B3A-B7E8-6A53-686F-596527BA49D2}"/>
              </a:ext>
            </a:extLst>
          </p:cNvPr>
          <p:cNvSpPr txBox="1"/>
          <p:nvPr/>
        </p:nvSpPr>
        <p:spPr>
          <a:xfrm>
            <a:off x="351346" y="3439671"/>
            <a:ext cx="7397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D)</a:t>
            </a:r>
            <a:r>
              <a:rPr lang="en-US" sz="3200" dirty="0"/>
              <a:t> A collider                     </a:t>
            </a:r>
            <a:r>
              <a:rPr lang="en-US" sz="3200" b="1" dirty="0"/>
              <a:t>E)</a:t>
            </a:r>
            <a:r>
              <a:rPr lang="en-US" sz="3200" dirty="0"/>
              <a:t> Complex reality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7AD25CF-B596-6EC0-E4EE-681890E4C766}"/>
              </a:ext>
            </a:extLst>
          </p:cNvPr>
          <p:cNvSpPr/>
          <p:nvPr/>
        </p:nvSpPr>
        <p:spPr>
          <a:xfrm>
            <a:off x="2600296" y="5017479"/>
            <a:ext cx="786809" cy="797442"/>
          </a:xfrm>
          <a:prstGeom prst="ellipse">
            <a:avLst/>
          </a:prstGeom>
          <a:solidFill>
            <a:srgbClr val="FF0000">
              <a:alpha val="3045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291B73D-5AD9-ECD4-EB90-7FAB0A802CF0}"/>
              </a:ext>
            </a:extLst>
          </p:cNvPr>
          <p:cNvSpPr/>
          <p:nvPr/>
        </p:nvSpPr>
        <p:spPr>
          <a:xfrm>
            <a:off x="773372" y="4364670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36965B-FE2C-87C5-5C5B-6C9F4F3C2E2E}"/>
              </a:ext>
            </a:extLst>
          </p:cNvPr>
          <p:cNvSpPr txBox="1"/>
          <p:nvPr/>
        </p:nvSpPr>
        <p:spPr>
          <a:xfrm>
            <a:off x="2539378" y="5222301"/>
            <a:ext cx="99149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Cancer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8A1FEB-18F9-C2E6-585B-0AB7580FFC6E}"/>
              </a:ext>
            </a:extLst>
          </p:cNvPr>
          <p:cNvSpPr txBox="1"/>
          <p:nvPr/>
        </p:nvSpPr>
        <p:spPr>
          <a:xfrm>
            <a:off x="680703" y="4569492"/>
            <a:ext cx="87928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Genes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968C391-2995-A695-0645-D275E4F84F67}"/>
              </a:ext>
            </a:extLst>
          </p:cNvPr>
          <p:cNvCxnSpPr>
            <a:cxnSpLocks/>
          </p:cNvCxnSpPr>
          <p:nvPr/>
        </p:nvCxnSpPr>
        <p:spPr>
          <a:xfrm>
            <a:off x="1767301" y="4781877"/>
            <a:ext cx="746271" cy="2703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45F988D3-282B-194F-9CDD-A19BC6DDFA98}"/>
              </a:ext>
            </a:extLst>
          </p:cNvPr>
          <p:cNvSpPr/>
          <p:nvPr/>
        </p:nvSpPr>
        <p:spPr>
          <a:xfrm>
            <a:off x="773372" y="5635266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4485B2-24CD-C4F5-B045-321EED4B7AC5}"/>
              </a:ext>
            </a:extLst>
          </p:cNvPr>
          <p:cNvSpPr txBox="1"/>
          <p:nvPr/>
        </p:nvSpPr>
        <p:spPr>
          <a:xfrm>
            <a:off x="691336" y="5840088"/>
            <a:ext cx="929613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Smoke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594BD19-C4F0-6381-9E37-14B6F908454E}"/>
              </a:ext>
            </a:extLst>
          </p:cNvPr>
          <p:cNvCxnSpPr>
            <a:cxnSpLocks/>
          </p:cNvCxnSpPr>
          <p:nvPr/>
        </p:nvCxnSpPr>
        <p:spPr>
          <a:xfrm flipV="1">
            <a:off x="1794869" y="5728177"/>
            <a:ext cx="684808" cy="31921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" name="Oval 1024">
            <a:extLst>
              <a:ext uri="{FF2B5EF4-FFF2-40B4-BE49-F238E27FC236}">
                <a16:creationId xmlns:a16="http://schemas.microsoft.com/office/drawing/2014/main" id="{18B853FC-A23B-53EB-FE6B-3E4D93FCAEF7}"/>
              </a:ext>
            </a:extLst>
          </p:cNvPr>
          <p:cNvSpPr/>
          <p:nvPr/>
        </p:nvSpPr>
        <p:spPr>
          <a:xfrm>
            <a:off x="4633143" y="5017479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1F4F5854-6FE2-144F-6E19-439A9088D074}"/>
              </a:ext>
            </a:extLst>
          </p:cNvPr>
          <p:cNvSpPr/>
          <p:nvPr/>
        </p:nvSpPr>
        <p:spPr>
          <a:xfrm>
            <a:off x="5681572" y="4260852"/>
            <a:ext cx="786809" cy="797442"/>
          </a:xfrm>
          <a:prstGeom prst="ellipse">
            <a:avLst/>
          </a:prstGeom>
          <a:solidFill>
            <a:srgbClr val="FF0000">
              <a:alpha val="3045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C4BACD3C-6DAB-4CBB-F95F-35D989E4F9DB}"/>
              </a:ext>
            </a:extLst>
          </p:cNvPr>
          <p:cNvSpPr txBox="1"/>
          <p:nvPr/>
        </p:nvSpPr>
        <p:spPr>
          <a:xfrm>
            <a:off x="4572225" y="5222301"/>
            <a:ext cx="87928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Genes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C8EAC65A-122E-D186-383E-64B9FC8040DC}"/>
              </a:ext>
            </a:extLst>
          </p:cNvPr>
          <p:cNvSpPr txBox="1"/>
          <p:nvPr/>
        </p:nvSpPr>
        <p:spPr>
          <a:xfrm>
            <a:off x="5578270" y="4465674"/>
            <a:ext cx="99149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Cancer</a:t>
            </a:r>
          </a:p>
        </p:txBody>
      </p:sp>
      <p:sp>
        <p:nvSpPr>
          <p:cNvPr id="1031" name="Oval 1030">
            <a:extLst>
              <a:ext uri="{FF2B5EF4-FFF2-40B4-BE49-F238E27FC236}">
                <a16:creationId xmlns:a16="http://schemas.microsoft.com/office/drawing/2014/main" id="{47F8F746-C72A-BBCE-FD05-A24A514930EF}"/>
              </a:ext>
            </a:extLst>
          </p:cNvPr>
          <p:cNvSpPr/>
          <p:nvPr/>
        </p:nvSpPr>
        <p:spPr>
          <a:xfrm>
            <a:off x="5649673" y="5765370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3A90A38D-55D5-AD20-C674-8057AEB25C77}"/>
              </a:ext>
            </a:extLst>
          </p:cNvPr>
          <p:cNvSpPr txBox="1"/>
          <p:nvPr/>
        </p:nvSpPr>
        <p:spPr>
          <a:xfrm>
            <a:off x="5567637" y="5970192"/>
            <a:ext cx="929613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Smoke</a:t>
            </a:r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030AF46F-313C-89A7-B8D8-F54A81BA4890}"/>
              </a:ext>
            </a:extLst>
          </p:cNvPr>
          <p:cNvSpPr/>
          <p:nvPr/>
        </p:nvSpPr>
        <p:spPr>
          <a:xfrm>
            <a:off x="6695209" y="5052237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7FFC052C-92FF-8122-4C3F-626C15AE7641}"/>
              </a:ext>
            </a:extLst>
          </p:cNvPr>
          <p:cNvSpPr txBox="1"/>
          <p:nvPr/>
        </p:nvSpPr>
        <p:spPr>
          <a:xfrm>
            <a:off x="6512973" y="5200359"/>
            <a:ext cx="1097993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Environ.</a:t>
            </a:r>
          </a:p>
        </p:txBody>
      </p: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54C9E8D3-4581-507A-05D5-B22D0833CEC5}"/>
              </a:ext>
            </a:extLst>
          </p:cNvPr>
          <p:cNvCxnSpPr>
            <a:cxnSpLocks/>
          </p:cNvCxnSpPr>
          <p:nvPr/>
        </p:nvCxnSpPr>
        <p:spPr>
          <a:xfrm>
            <a:off x="5356454" y="5669326"/>
            <a:ext cx="333600" cy="27287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9DDA079A-9132-5356-DD18-ED41CB384E7E}"/>
              </a:ext>
            </a:extLst>
          </p:cNvPr>
          <p:cNvCxnSpPr>
            <a:cxnSpLocks/>
          </p:cNvCxnSpPr>
          <p:nvPr/>
        </p:nvCxnSpPr>
        <p:spPr>
          <a:xfrm flipH="1">
            <a:off x="6392245" y="5732896"/>
            <a:ext cx="354392" cy="22062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F93BCE33-0DE8-F008-80F3-76B7D59354DF}"/>
              </a:ext>
            </a:extLst>
          </p:cNvPr>
          <p:cNvCxnSpPr>
            <a:cxnSpLocks/>
          </p:cNvCxnSpPr>
          <p:nvPr/>
        </p:nvCxnSpPr>
        <p:spPr>
          <a:xfrm flipH="1" flipV="1">
            <a:off x="6468381" y="4897972"/>
            <a:ext cx="278256" cy="20106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02D6CC88-9F80-CCAF-1034-44188F163455}"/>
              </a:ext>
            </a:extLst>
          </p:cNvPr>
          <p:cNvCxnSpPr>
            <a:cxnSpLocks/>
          </p:cNvCxnSpPr>
          <p:nvPr/>
        </p:nvCxnSpPr>
        <p:spPr>
          <a:xfrm flipV="1">
            <a:off x="5203280" y="4787919"/>
            <a:ext cx="373633" cy="22752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0D8AB24B-C618-D3FC-959E-6E850EA5630E}"/>
              </a:ext>
            </a:extLst>
          </p:cNvPr>
          <p:cNvCxnSpPr>
            <a:cxnSpLocks/>
          </p:cNvCxnSpPr>
          <p:nvPr/>
        </p:nvCxnSpPr>
        <p:spPr>
          <a:xfrm flipV="1">
            <a:off x="6074015" y="5121355"/>
            <a:ext cx="0" cy="58968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934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868ED-2E99-F911-433E-11792929A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02FE9-4C65-C734-2BF8-F8E1360DB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90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0C33D-FB2A-B938-FA6F-F9F5F907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A81C47-5D0A-5E3B-F0F3-D495F0A83529}"/>
              </a:ext>
            </a:extLst>
          </p:cNvPr>
          <p:cNvSpPr/>
          <p:nvPr/>
        </p:nvSpPr>
        <p:spPr>
          <a:xfrm>
            <a:off x="467833" y="606054"/>
            <a:ext cx="3317358" cy="2658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F24ACE-D7E8-1DDD-E4C6-DEE66CAF7BEB}"/>
              </a:ext>
            </a:extLst>
          </p:cNvPr>
          <p:cNvSpPr/>
          <p:nvPr/>
        </p:nvSpPr>
        <p:spPr>
          <a:xfrm>
            <a:off x="4320364" y="606053"/>
            <a:ext cx="3317358" cy="2658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088856-436F-D420-1952-9B7E118A31C8}"/>
              </a:ext>
            </a:extLst>
          </p:cNvPr>
          <p:cNvSpPr/>
          <p:nvPr/>
        </p:nvSpPr>
        <p:spPr>
          <a:xfrm>
            <a:off x="8296940" y="606052"/>
            <a:ext cx="3317358" cy="2658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F10B56-1C63-D158-5641-C4FCBC35863B}"/>
              </a:ext>
            </a:extLst>
          </p:cNvPr>
          <p:cNvSpPr/>
          <p:nvPr/>
        </p:nvSpPr>
        <p:spPr>
          <a:xfrm>
            <a:off x="467833" y="4065189"/>
            <a:ext cx="3317358" cy="2658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B4E09A-F799-008A-997F-F6E575D93089}"/>
              </a:ext>
            </a:extLst>
          </p:cNvPr>
          <p:cNvSpPr/>
          <p:nvPr/>
        </p:nvSpPr>
        <p:spPr>
          <a:xfrm>
            <a:off x="4320363" y="4065189"/>
            <a:ext cx="3317359" cy="2658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2C7F475-150F-E8D9-ACC1-3D28396BF347}"/>
              </a:ext>
            </a:extLst>
          </p:cNvPr>
          <p:cNvSpPr/>
          <p:nvPr/>
        </p:nvSpPr>
        <p:spPr>
          <a:xfrm>
            <a:off x="752254" y="1536400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51C8DE-E3F1-7E64-B71D-D89A82955709}"/>
              </a:ext>
            </a:extLst>
          </p:cNvPr>
          <p:cNvSpPr/>
          <p:nvPr/>
        </p:nvSpPr>
        <p:spPr>
          <a:xfrm>
            <a:off x="2610294" y="1536400"/>
            <a:ext cx="786809" cy="797442"/>
          </a:xfrm>
          <a:prstGeom prst="ellipse">
            <a:avLst/>
          </a:prstGeom>
          <a:solidFill>
            <a:srgbClr val="FF0000">
              <a:alpha val="3045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A49960-076B-A46B-56D5-41B8D7446AC9}"/>
              </a:ext>
            </a:extLst>
          </p:cNvPr>
          <p:cNvSpPr txBox="1"/>
          <p:nvPr/>
        </p:nvSpPr>
        <p:spPr>
          <a:xfrm>
            <a:off x="670070" y="1741222"/>
            <a:ext cx="929613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Smoke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A3837A-293E-1364-D6B5-87DADE379816}"/>
              </a:ext>
            </a:extLst>
          </p:cNvPr>
          <p:cNvSpPr txBox="1"/>
          <p:nvPr/>
        </p:nvSpPr>
        <p:spPr>
          <a:xfrm>
            <a:off x="2506992" y="1741222"/>
            <a:ext cx="99149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Cancer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3DFC71-0582-50A8-10DF-959A90B91A33}"/>
              </a:ext>
            </a:extLst>
          </p:cNvPr>
          <p:cNvCxnSpPr/>
          <p:nvPr/>
        </p:nvCxnSpPr>
        <p:spPr>
          <a:xfrm>
            <a:off x="1711842" y="1935121"/>
            <a:ext cx="691116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30DBD7C-FC11-33DF-B312-61BC0B081617}"/>
              </a:ext>
            </a:extLst>
          </p:cNvPr>
          <p:cNvSpPr txBox="1"/>
          <p:nvPr/>
        </p:nvSpPr>
        <p:spPr>
          <a:xfrm>
            <a:off x="351346" y="-5296"/>
            <a:ext cx="115527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A)</a:t>
            </a:r>
            <a:r>
              <a:rPr lang="en-US" sz="3200" dirty="0"/>
              <a:t> Direct causation       </a:t>
            </a:r>
            <a:r>
              <a:rPr lang="en-US" sz="3200" b="1" dirty="0"/>
              <a:t>B)</a:t>
            </a:r>
            <a:r>
              <a:rPr lang="en-US" sz="3200" dirty="0"/>
              <a:t> A confound                </a:t>
            </a:r>
            <a:r>
              <a:rPr lang="en-US" sz="3200" b="1" dirty="0"/>
              <a:t> C) </a:t>
            </a:r>
            <a:r>
              <a:rPr lang="en-US" sz="3200" dirty="0"/>
              <a:t>A pipe (mediator)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9E02165-BC1F-32B5-22E8-C2BF88E943DA}"/>
              </a:ext>
            </a:extLst>
          </p:cNvPr>
          <p:cNvSpPr/>
          <p:nvPr/>
        </p:nvSpPr>
        <p:spPr>
          <a:xfrm>
            <a:off x="4633143" y="1536400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A8204F3-EE18-DB37-EC9E-15708DED4685}"/>
              </a:ext>
            </a:extLst>
          </p:cNvPr>
          <p:cNvSpPr/>
          <p:nvPr/>
        </p:nvSpPr>
        <p:spPr>
          <a:xfrm>
            <a:off x="6491183" y="887808"/>
            <a:ext cx="786809" cy="797442"/>
          </a:xfrm>
          <a:prstGeom prst="ellipse">
            <a:avLst/>
          </a:prstGeom>
          <a:solidFill>
            <a:srgbClr val="FF0000">
              <a:alpha val="3045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EF9724-8E3D-59A4-619C-9EC17BCE0FC3}"/>
              </a:ext>
            </a:extLst>
          </p:cNvPr>
          <p:cNvSpPr txBox="1"/>
          <p:nvPr/>
        </p:nvSpPr>
        <p:spPr>
          <a:xfrm>
            <a:off x="4572225" y="1741222"/>
            <a:ext cx="87928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Genes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6F4F60-D8FC-3322-12DC-BFAFD3467B2B}"/>
              </a:ext>
            </a:extLst>
          </p:cNvPr>
          <p:cNvSpPr txBox="1"/>
          <p:nvPr/>
        </p:nvSpPr>
        <p:spPr>
          <a:xfrm>
            <a:off x="6387881" y="1092630"/>
            <a:ext cx="99149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Cancer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782CAA-D88A-D586-BEDD-04E3221BFE5B}"/>
              </a:ext>
            </a:extLst>
          </p:cNvPr>
          <p:cNvCxnSpPr>
            <a:cxnSpLocks/>
          </p:cNvCxnSpPr>
          <p:nvPr/>
        </p:nvCxnSpPr>
        <p:spPr>
          <a:xfrm>
            <a:off x="5592731" y="2020183"/>
            <a:ext cx="712376" cy="3430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AD17AF2-A117-05AB-EFEF-854CBBABA92F}"/>
              </a:ext>
            </a:extLst>
          </p:cNvPr>
          <p:cNvSpPr/>
          <p:nvPr/>
        </p:nvSpPr>
        <p:spPr>
          <a:xfrm>
            <a:off x="6491183" y="2158404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0C2333-A5BD-D34D-6E0D-2E619DCE0C58}"/>
              </a:ext>
            </a:extLst>
          </p:cNvPr>
          <p:cNvSpPr txBox="1"/>
          <p:nvPr/>
        </p:nvSpPr>
        <p:spPr>
          <a:xfrm>
            <a:off x="6409147" y="2363226"/>
            <a:ext cx="929613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Smoke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91E55C7-B12C-8CF2-54F8-8D50290F1661}"/>
              </a:ext>
            </a:extLst>
          </p:cNvPr>
          <p:cNvCxnSpPr>
            <a:cxnSpLocks/>
          </p:cNvCxnSpPr>
          <p:nvPr/>
        </p:nvCxnSpPr>
        <p:spPr>
          <a:xfrm flipV="1">
            <a:off x="5620299" y="1371596"/>
            <a:ext cx="684808" cy="31921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C64EA26C-6A23-3B67-2D2D-D3057C564A43}"/>
              </a:ext>
            </a:extLst>
          </p:cNvPr>
          <p:cNvSpPr/>
          <p:nvPr/>
        </p:nvSpPr>
        <p:spPr>
          <a:xfrm>
            <a:off x="8390864" y="848080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DE9F56-0726-9EA1-BEC5-A95996B219FE}"/>
              </a:ext>
            </a:extLst>
          </p:cNvPr>
          <p:cNvSpPr txBox="1"/>
          <p:nvPr/>
        </p:nvSpPr>
        <p:spPr>
          <a:xfrm>
            <a:off x="8329946" y="1052902"/>
            <a:ext cx="87928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Genes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EF9ADBB-2750-AC10-18D7-E210EC8EA8A9}"/>
              </a:ext>
            </a:extLst>
          </p:cNvPr>
          <p:cNvSpPr/>
          <p:nvPr/>
        </p:nvSpPr>
        <p:spPr>
          <a:xfrm>
            <a:off x="9568067" y="1645522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CF9BE9-E87A-61C5-6169-2E8F353B66E1}"/>
              </a:ext>
            </a:extLst>
          </p:cNvPr>
          <p:cNvSpPr txBox="1"/>
          <p:nvPr/>
        </p:nvSpPr>
        <p:spPr>
          <a:xfrm>
            <a:off x="9486031" y="1850344"/>
            <a:ext cx="929613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Smoke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141AD9B-3468-41F3-305C-483E9CEF4662}"/>
              </a:ext>
            </a:extLst>
          </p:cNvPr>
          <p:cNvSpPr/>
          <p:nvPr/>
        </p:nvSpPr>
        <p:spPr>
          <a:xfrm>
            <a:off x="10692107" y="2442964"/>
            <a:ext cx="786809" cy="797442"/>
          </a:xfrm>
          <a:prstGeom prst="ellipse">
            <a:avLst/>
          </a:prstGeom>
          <a:solidFill>
            <a:srgbClr val="FF0000">
              <a:alpha val="3045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52A45B-935C-4AB5-828F-421180E2D198}"/>
              </a:ext>
            </a:extLst>
          </p:cNvPr>
          <p:cNvSpPr txBox="1"/>
          <p:nvPr/>
        </p:nvSpPr>
        <p:spPr>
          <a:xfrm>
            <a:off x="10588805" y="2647786"/>
            <a:ext cx="99149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Cancer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EA44BD-56A2-8FF9-5EC8-E12680DE730F}"/>
              </a:ext>
            </a:extLst>
          </p:cNvPr>
          <p:cNvCxnSpPr>
            <a:cxnSpLocks/>
          </p:cNvCxnSpPr>
          <p:nvPr/>
        </p:nvCxnSpPr>
        <p:spPr>
          <a:xfrm>
            <a:off x="9199806" y="1556014"/>
            <a:ext cx="431191" cy="26829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81B8277-4AAE-2561-8A09-880200FB988D}"/>
              </a:ext>
            </a:extLst>
          </p:cNvPr>
          <p:cNvCxnSpPr>
            <a:cxnSpLocks/>
          </p:cNvCxnSpPr>
          <p:nvPr/>
        </p:nvCxnSpPr>
        <p:spPr>
          <a:xfrm>
            <a:off x="10341310" y="2295532"/>
            <a:ext cx="431191" cy="26829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BEAD82B-5617-0C35-B5E1-173D168819A9}"/>
              </a:ext>
            </a:extLst>
          </p:cNvPr>
          <p:cNvSpPr txBox="1"/>
          <p:nvPr/>
        </p:nvSpPr>
        <p:spPr>
          <a:xfrm>
            <a:off x="351346" y="3439671"/>
            <a:ext cx="7397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D)</a:t>
            </a:r>
            <a:r>
              <a:rPr lang="en-US" sz="3200" dirty="0"/>
              <a:t> A collider                     </a:t>
            </a:r>
            <a:r>
              <a:rPr lang="en-US" sz="3200" b="1" dirty="0"/>
              <a:t>E)</a:t>
            </a:r>
            <a:r>
              <a:rPr lang="en-US" sz="3200" dirty="0"/>
              <a:t> Complex reality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67FEF29-9DEE-5BD8-690B-19FBC662794A}"/>
              </a:ext>
            </a:extLst>
          </p:cNvPr>
          <p:cNvSpPr/>
          <p:nvPr/>
        </p:nvSpPr>
        <p:spPr>
          <a:xfrm>
            <a:off x="2600296" y="5017479"/>
            <a:ext cx="786809" cy="797442"/>
          </a:xfrm>
          <a:prstGeom prst="ellipse">
            <a:avLst/>
          </a:prstGeom>
          <a:solidFill>
            <a:srgbClr val="FF0000">
              <a:alpha val="3045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890B6C3-8078-D434-2365-94DA67B0BB06}"/>
              </a:ext>
            </a:extLst>
          </p:cNvPr>
          <p:cNvSpPr/>
          <p:nvPr/>
        </p:nvSpPr>
        <p:spPr>
          <a:xfrm>
            <a:off x="773372" y="4364670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D7E7DA-7903-7BE9-CFC9-A09FA8EDEBE4}"/>
              </a:ext>
            </a:extLst>
          </p:cNvPr>
          <p:cNvSpPr txBox="1"/>
          <p:nvPr/>
        </p:nvSpPr>
        <p:spPr>
          <a:xfrm>
            <a:off x="2539378" y="5222301"/>
            <a:ext cx="99149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Cancer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25A4A5-3980-488C-0E45-923D403AF419}"/>
              </a:ext>
            </a:extLst>
          </p:cNvPr>
          <p:cNvSpPr txBox="1"/>
          <p:nvPr/>
        </p:nvSpPr>
        <p:spPr>
          <a:xfrm>
            <a:off x="680703" y="4569492"/>
            <a:ext cx="87928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Genes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C8A3612-F23D-2CAC-D2A4-40718BCCE0DA}"/>
              </a:ext>
            </a:extLst>
          </p:cNvPr>
          <p:cNvCxnSpPr>
            <a:cxnSpLocks/>
          </p:cNvCxnSpPr>
          <p:nvPr/>
        </p:nvCxnSpPr>
        <p:spPr>
          <a:xfrm>
            <a:off x="1767301" y="4781877"/>
            <a:ext cx="746271" cy="2703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27DC6D88-A3FF-1135-66F5-2784AC0AB4BC}"/>
              </a:ext>
            </a:extLst>
          </p:cNvPr>
          <p:cNvSpPr/>
          <p:nvPr/>
        </p:nvSpPr>
        <p:spPr>
          <a:xfrm>
            <a:off x="773372" y="5635266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005223-3F74-8E97-9FB7-DD9A9779A18B}"/>
              </a:ext>
            </a:extLst>
          </p:cNvPr>
          <p:cNvSpPr txBox="1"/>
          <p:nvPr/>
        </p:nvSpPr>
        <p:spPr>
          <a:xfrm>
            <a:off x="691336" y="5840088"/>
            <a:ext cx="929613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Smoke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7CDD755-CF40-326C-6314-93DE49FF2380}"/>
              </a:ext>
            </a:extLst>
          </p:cNvPr>
          <p:cNvCxnSpPr>
            <a:cxnSpLocks/>
          </p:cNvCxnSpPr>
          <p:nvPr/>
        </p:nvCxnSpPr>
        <p:spPr>
          <a:xfrm flipV="1">
            <a:off x="1794869" y="5728177"/>
            <a:ext cx="684808" cy="31921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" name="Oval 1024">
            <a:extLst>
              <a:ext uri="{FF2B5EF4-FFF2-40B4-BE49-F238E27FC236}">
                <a16:creationId xmlns:a16="http://schemas.microsoft.com/office/drawing/2014/main" id="{1E84930B-2377-2381-580A-4646EC399B6B}"/>
              </a:ext>
            </a:extLst>
          </p:cNvPr>
          <p:cNvSpPr/>
          <p:nvPr/>
        </p:nvSpPr>
        <p:spPr>
          <a:xfrm>
            <a:off x="4633143" y="5017479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E0F9F011-419C-D5D3-8BA1-032CDB5154E6}"/>
              </a:ext>
            </a:extLst>
          </p:cNvPr>
          <p:cNvSpPr/>
          <p:nvPr/>
        </p:nvSpPr>
        <p:spPr>
          <a:xfrm>
            <a:off x="5681572" y="4260852"/>
            <a:ext cx="786809" cy="797442"/>
          </a:xfrm>
          <a:prstGeom prst="ellipse">
            <a:avLst/>
          </a:prstGeom>
          <a:solidFill>
            <a:srgbClr val="FF0000">
              <a:alpha val="3045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024794FC-052F-450D-0480-1401BE4BEC54}"/>
              </a:ext>
            </a:extLst>
          </p:cNvPr>
          <p:cNvSpPr txBox="1"/>
          <p:nvPr/>
        </p:nvSpPr>
        <p:spPr>
          <a:xfrm>
            <a:off x="4572225" y="5222301"/>
            <a:ext cx="87928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Genes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A39FB2F7-0079-F19D-6E1C-719CAAB53715}"/>
              </a:ext>
            </a:extLst>
          </p:cNvPr>
          <p:cNvSpPr txBox="1"/>
          <p:nvPr/>
        </p:nvSpPr>
        <p:spPr>
          <a:xfrm>
            <a:off x="5578270" y="4465674"/>
            <a:ext cx="99149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Cancer</a:t>
            </a:r>
          </a:p>
        </p:txBody>
      </p:sp>
      <p:sp>
        <p:nvSpPr>
          <p:cNvPr id="1031" name="Oval 1030">
            <a:extLst>
              <a:ext uri="{FF2B5EF4-FFF2-40B4-BE49-F238E27FC236}">
                <a16:creationId xmlns:a16="http://schemas.microsoft.com/office/drawing/2014/main" id="{7BAC6F55-C76E-7C7C-B4B6-4B6075A115F2}"/>
              </a:ext>
            </a:extLst>
          </p:cNvPr>
          <p:cNvSpPr/>
          <p:nvPr/>
        </p:nvSpPr>
        <p:spPr>
          <a:xfrm>
            <a:off x="5649673" y="5765370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450157F5-203A-C213-9777-736CB7452468}"/>
              </a:ext>
            </a:extLst>
          </p:cNvPr>
          <p:cNvSpPr txBox="1"/>
          <p:nvPr/>
        </p:nvSpPr>
        <p:spPr>
          <a:xfrm>
            <a:off x="5567637" y="5970192"/>
            <a:ext cx="929613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Smoke</a:t>
            </a:r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5EB46A1C-A58C-B586-00ED-7A53FCB88298}"/>
              </a:ext>
            </a:extLst>
          </p:cNvPr>
          <p:cNvSpPr/>
          <p:nvPr/>
        </p:nvSpPr>
        <p:spPr>
          <a:xfrm>
            <a:off x="6695209" y="5052237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04DBC505-AB30-BAE7-03B9-82285B92C8E7}"/>
              </a:ext>
            </a:extLst>
          </p:cNvPr>
          <p:cNvSpPr txBox="1"/>
          <p:nvPr/>
        </p:nvSpPr>
        <p:spPr>
          <a:xfrm>
            <a:off x="6512973" y="5200359"/>
            <a:ext cx="1097993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Environ.</a:t>
            </a:r>
          </a:p>
        </p:txBody>
      </p: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16EAD675-CF98-7359-42A0-933A287D6460}"/>
              </a:ext>
            </a:extLst>
          </p:cNvPr>
          <p:cNvCxnSpPr>
            <a:cxnSpLocks/>
          </p:cNvCxnSpPr>
          <p:nvPr/>
        </p:nvCxnSpPr>
        <p:spPr>
          <a:xfrm>
            <a:off x="5356454" y="5669326"/>
            <a:ext cx="333600" cy="27287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B0FC29F5-81F1-42E7-6F37-D4C88A6E0CB0}"/>
              </a:ext>
            </a:extLst>
          </p:cNvPr>
          <p:cNvCxnSpPr>
            <a:cxnSpLocks/>
          </p:cNvCxnSpPr>
          <p:nvPr/>
        </p:nvCxnSpPr>
        <p:spPr>
          <a:xfrm flipH="1">
            <a:off x="6392245" y="5732896"/>
            <a:ext cx="354392" cy="22062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2121850C-CAB9-86B3-8EDA-95E7034BF3E1}"/>
              </a:ext>
            </a:extLst>
          </p:cNvPr>
          <p:cNvCxnSpPr>
            <a:cxnSpLocks/>
          </p:cNvCxnSpPr>
          <p:nvPr/>
        </p:nvCxnSpPr>
        <p:spPr>
          <a:xfrm flipH="1" flipV="1">
            <a:off x="6468381" y="4897972"/>
            <a:ext cx="278256" cy="20106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27952AF7-E31D-8656-3DE2-984B77A780F7}"/>
              </a:ext>
            </a:extLst>
          </p:cNvPr>
          <p:cNvCxnSpPr>
            <a:cxnSpLocks/>
          </p:cNvCxnSpPr>
          <p:nvPr/>
        </p:nvCxnSpPr>
        <p:spPr>
          <a:xfrm flipV="1">
            <a:off x="5203280" y="4787919"/>
            <a:ext cx="373633" cy="22752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61E0C150-74D5-C3E6-77DA-A8A5A1EAA400}"/>
              </a:ext>
            </a:extLst>
          </p:cNvPr>
          <p:cNvCxnSpPr>
            <a:cxnSpLocks/>
          </p:cNvCxnSpPr>
          <p:nvPr/>
        </p:nvCxnSpPr>
        <p:spPr>
          <a:xfrm flipV="1">
            <a:off x="6074015" y="5121355"/>
            <a:ext cx="0" cy="58968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077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C7CD7-F2E6-1957-D250-D6341DCEB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6BAF254-9E22-6FD3-A50E-E760518DDE69}"/>
              </a:ext>
            </a:extLst>
          </p:cNvPr>
          <p:cNvSpPr/>
          <p:nvPr/>
        </p:nvSpPr>
        <p:spPr>
          <a:xfrm>
            <a:off x="8296940" y="606052"/>
            <a:ext cx="3317358" cy="2658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D3B25E-7B12-908B-FA9C-4E1EEE706DE6}"/>
              </a:ext>
            </a:extLst>
          </p:cNvPr>
          <p:cNvSpPr txBox="1"/>
          <p:nvPr/>
        </p:nvSpPr>
        <p:spPr>
          <a:xfrm>
            <a:off x="351346" y="-5296"/>
            <a:ext cx="11433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								          </a:t>
            </a:r>
            <a:r>
              <a:rPr lang="en-US" sz="3200" dirty="0"/>
              <a:t>A pipe (mediator)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212DE16-5895-AAB9-FF4B-381B9E5B57D0}"/>
              </a:ext>
            </a:extLst>
          </p:cNvPr>
          <p:cNvSpPr/>
          <p:nvPr/>
        </p:nvSpPr>
        <p:spPr>
          <a:xfrm>
            <a:off x="8390864" y="848080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F19E87-C8DE-C721-5100-034C172A7D97}"/>
              </a:ext>
            </a:extLst>
          </p:cNvPr>
          <p:cNvSpPr txBox="1"/>
          <p:nvPr/>
        </p:nvSpPr>
        <p:spPr>
          <a:xfrm>
            <a:off x="8329946" y="1052902"/>
            <a:ext cx="1097993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Environ.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931BC65-DEF5-F7C3-E0A0-DCCB42EAF471}"/>
              </a:ext>
            </a:extLst>
          </p:cNvPr>
          <p:cNvSpPr/>
          <p:nvPr/>
        </p:nvSpPr>
        <p:spPr>
          <a:xfrm>
            <a:off x="9568067" y="1645522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FBCC31-03D8-DF32-15C4-4AFCE48D7CDC}"/>
              </a:ext>
            </a:extLst>
          </p:cNvPr>
          <p:cNvSpPr txBox="1"/>
          <p:nvPr/>
        </p:nvSpPr>
        <p:spPr>
          <a:xfrm>
            <a:off x="9486031" y="1850344"/>
            <a:ext cx="92333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Length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94C1B3-7241-6F32-58E1-9EBA6D541BD2}"/>
              </a:ext>
            </a:extLst>
          </p:cNvPr>
          <p:cNvSpPr/>
          <p:nvPr/>
        </p:nvSpPr>
        <p:spPr>
          <a:xfrm>
            <a:off x="10692107" y="2442964"/>
            <a:ext cx="786809" cy="797442"/>
          </a:xfrm>
          <a:prstGeom prst="ellipse">
            <a:avLst/>
          </a:prstGeom>
          <a:solidFill>
            <a:srgbClr val="FF0000">
              <a:alpha val="3045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C4B520-7849-8C25-D85E-50992967250D}"/>
              </a:ext>
            </a:extLst>
          </p:cNvPr>
          <p:cNvSpPr txBox="1"/>
          <p:nvPr/>
        </p:nvSpPr>
        <p:spPr>
          <a:xfrm>
            <a:off x="10778809" y="2647786"/>
            <a:ext cx="637226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Eggs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BAB3EF7-B341-C4A7-5762-CC6BBC1B7E86}"/>
              </a:ext>
            </a:extLst>
          </p:cNvPr>
          <p:cNvCxnSpPr>
            <a:cxnSpLocks/>
          </p:cNvCxnSpPr>
          <p:nvPr/>
        </p:nvCxnSpPr>
        <p:spPr>
          <a:xfrm>
            <a:off x="9199806" y="1556014"/>
            <a:ext cx="431191" cy="26829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48669CF-7C28-A2FE-91ED-F52B1128A4E1}"/>
              </a:ext>
            </a:extLst>
          </p:cNvPr>
          <p:cNvCxnSpPr>
            <a:cxnSpLocks/>
          </p:cNvCxnSpPr>
          <p:nvPr/>
        </p:nvCxnSpPr>
        <p:spPr>
          <a:xfrm>
            <a:off x="10341310" y="2295532"/>
            <a:ext cx="431191" cy="26829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062B563-379F-F6BF-4472-91DF261C440A}"/>
              </a:ext>
            </a:extLst>
          </p:cNvPr>
          <p:cNvSpPr/>
          <p:nvPr/>
        </p:nvSpPr>
        <p:spPr>
          <a:xfrm>
            <a:off x="4682102" y="3990854"/>
            <a:ext cx="3317358" cy="2658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E58BE-A9B3-05D9-7D29-A31B3AD8C74D}"/>
              </a:ext>
            </a:extLst>
          </p:cNvPr>
          <p:cNvSpPr txBox="1"/>
          <p:nvPr/>
        </p:nvSpPr>
        <p:spPr>
          <a:xfrm>
            <a:off x="713084" y="3379505"/>
            <a:ext cx="129405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A)</a:t>
            </a:r>
            <a:r>
              <a:rPr lang="en-US" sz="3200" dirty="0"/>
              <a:t> Direct causation       </a:t>
            </a:r>
            <a:r>
              <a:rPr lang="en-US" sz="3200" b="1" dirty="0"/>
              <a:t>              </a:t>
            </a:r>
            <a:r>
              <a:rPr lang="en-US" sz="3200" dirty="0"/>
              <a:t>DAG 1				</a:t>
            </a:r>
            <a:r>
              <a:rPr lang="en-US" sz="3200" b="1" dirty="0"/>
              <a:t>C) </a:t>
            </a:r>
            <a:r>
              <a:rPr lang="en-US" sz="3200" dirty="0"/>
              <a:t>A pipe (mediator)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AE04734-4F87-2BD5-7D29-E9EE16FFA932}"/>
              </a:ext>
            </a:extLst>
          </p:cNvPr>
          <p:cNvSpPr/>
          <p:nvPr/>
        </p:nvSpPr>
        <p:spPr>
          <a:xfrm>
            <a:off x="4994881" y="4921201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E2617B5-6509-C578-E222-3DDBB2F48622}"/>
              </a:ext>
            </a:extLst>
          </p:cNvPr>
          <p:cNvSpPr/>
          <p:nvPr/>
        </p:nvSpPr>
        <p:spPr>
          <a:xfrm>
            <a:off x="6852921" y="4272609"/>
            <a:ext cx="786809" cy="797442"/>
          </a:xfrm>
          <a:prstGeom prst="ellipse">
            <a:avLst/>
          </a:prstGeom>
          <a:solidFill>
            <a:srgbClr val="FF0000">
              <a:alpha val="3045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A1BD65-87FF-BD6A-B29E-29FBF5DCCFE8}"/>
              </a:ext>
            </a:extLst>
          </p:cNvPr>
          <p:cNvSpPr txBox="1"/>
          <p:nvPr/>
        </p:nvSpPr>
        <p:spPr>
          <a:xfrm>
            <a:off x="5286077" y="5126023"/>
            <a:ext cx="204415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B6DD9F-CCA9-CF58-7486-15AE91077D31}"/>
              </a:ext>
            </a:extLst>
          </p:cNvPr>
          <p:cNvSpPr txBox="1"/>
          <p:nvPr/>
        </p:nvSpPr>
        <p:spPr>
          <a:xfrm>
            <a:off x="7133546" y="4437434"/>
            <a:ext cx="199606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7034DD7-645C-7103-85F4-25B619F4CBBF}"/>
              </a:ext>
            </a:extLst>
          </p:cNvPr>
          <p:cNvCxnSpPr>
            <a:cxnSpLocks/>
          </p:cNvCxnSpPr>
          <p:nvPr/>
        </p:nvCxnSpPr>
        <p:spPr>
          <a:xfrm>
            <a:off x="5954469" y="5404984"/>
            <a:ext cx="712376" cy="3430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425F5F36-B757-8D52-1822-E64D6B14509A}"/>
              </a:ext>
            </a:extLst>
          </p:cNvPr>
          <p:cNvSpPr/>
          <p:nvPr/>
        </p:nvSpPr>
        <p:spPr>
          <a:xfrm>
            <a:off x="6852921" y="5543205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F52A60-8E07-1E11-2EE3-896905364C66}"/>
              </a:ext>
            </a:extLst>
          </p:cNvPr>
          <p:cNvSpPr txBox="1"/>
          <p:nvPr/>
        </p:nvSpPr>
        <p:spPr>
          <a:xfrm>
            <a:off x="7101486" y="5748027"/>
            <a:ext cx="231666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3BEF0A9-A51D-55F2-FAC3-FBA7F6578E7E}"/>
              </a:ext>
            </a:extLst>
          </p:cNvPr>
          <p:cNvCxnSpPr>
            <a:cxnSpLocks/>
          </p:cNvCxnSpPr>
          <p:nvPr/>
        </p:nvCxnSpPr>
        <p:spPr>
          <a:xfrm flipV="1">
            <a:off x="5982037" y="4756397"/>
            <a:ext cx="684808" cy="31921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767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909F9-4E45-1139-2064-9C9ABBD19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CC0A98-A515-51BF-BFA1-510A9C37EC4D}"/>
              </a:ext>
            </a:extLst>
          </p:cNvPr>
          <p:cNvSpPr/>
          <p:nvPr/>
        </p:nvSpPr>
        <p:spPr>
          <a:xfrm>
            <a:off x="4320364" y="606053"/>
            <a:ext cx="3317358" cy="2658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212CE5-056C-66FA-DC64-F18D70BE5B5B}"/>
              </a:ext>
            </a:extLst>
          </p:cNvPr>
          <p:cNvSpPr txBox="1"/>
          <p:nvPr/>
        </p:nvSpPr>
        <p:spPr>
          <a:xfrm>
            <a:off x="351346" y="-5296"/>
            <a:ext cx="68239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sz="3200" dirty="0"/>
              <a:t>					A confound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8FD70C3-A087-EE8F-9275-92CA73A5D5F4}"/>
              </a:ext>
            </a:extLst>
          </p:cNvPr>
          <p:cNvSpPr/>
          <p:nvPr/>
        </p:nvSpPr>
        <p:spPr>
          <a:xfrm>
            <a:off x="4633143" y="1536400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B90FC0D-D24E-C922-9002-C63C4827C85E}"/>
              </a:ext>
            </a:extLst>
          </p:cNvPr>
          <p:cNvSpPr/>
          <p:nvPr/>
        </p:nvSpPr>
        <p:spPr>
          <a:xfrm>
            <a:off x="6491183" y="887808"/>
            <a:ext cx="786809" cy="797442"/>
          </a:xfrm>
          <a:prstGeom prst="ellipse">
            <a:avLst/>
          </a:prstGeom>
          <a:solidFill>
            <a:srgbClr val="FF0000">
              <a:alpha val="3045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C2D780-110E-22E1-5FC4-0901D4B31643}"/>
              </a:ext>
            </a:extLst>
          </p:cNvPr>
          <p:cNvSpPr txBox="1"/>
          <p:nvPr/>
        </p:nvSpPr>
        <p:spPr>
          <a:xfrm>
            <a:off x="4477225" y="1741222"/>
            <a:ext cx="1097993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Environ.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7B07E7-BA29-D2EC-675C-3D5D8B2B1DFD}"/>
              </a:ext>
            </a:extLst>
          </p:cNvPr>
          <p:cNvSpPr txBox="1"/>
          <p:nvPr/>
        </p:nvSpPr>
        <p:spPr>
          <a:xfrm>
            <a:off x="6352256" y="1092630"/>
            <a:ext cx="903324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   Egg #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BD1AA7-4808-B34A-AC3E-BD2B0D80E312}"/>
              </a:ext>
            </a:extLst>
          </p:cNvPr>
          <p:cNvCxnSpPr>
            <a:cxnSpLocks/>
          </p:cNvCxnSpPr>
          <p:nvPr/>
        </p:nvCxnSpPr>
        <p:spPr>
          <a:xfrm>
            <a:off x="5592731" y="2020183"/>
            <a:ext cx="712376" cy="34304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7C56234-867D-AB3E-05B5-E717E0B29FAE}"/>
              </a:ext>
            </a:extLst>
          </p:cNvPr>
          <p:cNvSpPr/>
          <p:nvPr/>
        </p:nvSpPr>
        <p:spPr>
          <a:xfrm>
            <a:off x="6491183" y="2158404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933A24-845B-5EC3-08A3-65C7695E3E1B}"/>
              </a:ext>
            </a:extLst>
          </p:cNvPr>
          <p:cNvSpPr txBox="1"/>
          <p:nvPr/>
        </p:nvSpPr>
        <p:spPr>
          <a:xfrm>
            <a:off x="6409147" y="2363226"/>
            <a:ext cx="923330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Length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B31DEF6-9FED-4FFC-7C54-63037C4C4832}"/>
              </a:ext>
            </a:extLst>
          </p:cNvPr>
          <p:cNvCxnSpPr>
            <a:cxnSpLocks/>
          </p:cNvCxnSpPr>
          <p:nvPr/>
        </p:nvCxnSpPr>
        <p:spPr>
          <a:xfrm flipV="1">
            <a:off x="5620299" y="1371596"/>
            <a:ext cx="684808" cy="31921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9EF762D-8F2E-F354-3F49-BB7157A7B276}"/>
              </a:ext>
            </a:extLst>
          </p:cNvPr>
          <p:cNvSpPr/>
          <p:nvPr/>
        </p:nvSpPr>
        <p:spPr>
          <a:xfrm>
            <a:off x="467833" y="4065189"/>
            <a:ext cx="3317358" cy="2658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79CA37-D215-0882-77A7-B1867629C644}"/>
              </a:ext>
            </a:extLst>
          </p:cNvPr>
          <p:cNvSpPr txBox="1"/>
          <p:nvPr/>
        </p:nvSpPr>
        <p:spPr>
          <a:xfrm>
            <a:off x="351346" y="3439671"/>
            <a:ext cx="2401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	  DAG 2</a:t>
            </a:r>
            <a:endParaRPr lang="en-US" sz="32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EA43E6F-E395-C442-A566-867CC08C022F}"/>
              </a:ext>
            </a:extLst>
          </p:cNvPr>
          <p:cNvSpPr/>
          <p:nvPr/>
        </p:nvSpPr>
        <p:spPr>
          <a:xfrm>
            <a:off x="2600296" y="5017479"/>
            <a:ext cx="786809" cy="797442"/>
          </a:xfrm>
          <a:prstGeom prst="ellipse">
            <a:avLst/>
          </a:prstGeom>
          <a:solidFill>
            <a:srgbClr val="FF0000">
              <a:alpha val="3045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F381583-EEE8-17BA-1495-3AD580131983}"/>
              </a:ext>
            </a:extLst>
          </p:cNvPr>
          <p:cNvSpPr/>
          <p:nvPr/>
        </p:nvSpPr>
        <p:spPr>
          <a:xfrm>
            <a:off x="773372" y="4364670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8AC5A4-8E84-59C3-2539-751879B8DA0C}"/>
              </a:ext>
            </a:extLst>
          </p:cNvPr>
          <p:cNvSpPr txBox="1"/>
          <p:nvPr/>
        </p:nvSpPr>
        <p:spPr>
          <a:xfrm>
            <a:off x="2877867" y="5200359"/>
            <a:ext cx="231666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158FDC-B6CA-CA22-21AD-CFDBCD794570}"/>
              </a:ext>
            </a:extLst>
          </p:cNvPr>
          <p:cNvSpPr txBox="1"/>
          <p:nvPr/>
        </p:nvSpPr>
        <p:spPr>
          <a:xfrm>
            <a:off x="1056339" y="4564841"/>
            <a:ext cx="199606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E520B45-7062-2282-383A-8A8D2E8B2120}"/>
              </a:ext>
            </a:extLst>
          </p:cNvPr>
          <p:cNvCxnSpPr>
            <a:cxnSpLocks/>
          </p:cNvCxnSpPr>
          <p:nvPr/>
        </p:nvCxnSpPr>
        <p:spPr>
          <a:xfrm>
            <a:off x="1767301" y="4781877"/>
            <a:ext cx="746271" cy="2703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11AE10AA-DAA5-5F44-A3FF-EDCAC5D411AA}"/>
              </a:ext>
            </a:extLst>
          </p:cNvPr>
          <p:cNvSpPr/>
          <p:nvPr/>
        </p:nvSpPr>
        <p:spPr>
          <a:xfrm>
            <a:off x="773372" y="5635266"/>
            <a:ext cx="786809" cy="797442"/>
          </a:xfrm>
          <a:prstGeom prst="ellipse">
            <a:avLst/>
          </a:prstGeom>
          <a:solidFill>
            <a:schemeClr val="accent1">
              <a:alpha val="30454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9E00F9-DFD8-E961-0FE4-BAD1650899ED}"/>
              </a:ext>
            </a:extLst>
          </p:cNvPr>
          <p:cNvSpPr txBox="1"/>
          <p:nvPr/>
        </p:nvSpPr>
        <p:spPr>
          <a:xfrm>
            <a:off x="1064568" y="5814921"/>
            <a:ext cx="204415" cy="387798"/>
          </a:xfrm>
          <a:prstGeom prst="rect">
            <a:avLst/>
          </a:prstGeom>
          <a:solidFill>
            <a:schemeClr val="bg1">
              <a:alpha val="63363"/>
            </a:schemeClr>
          </a:solidFill>
        </p:spPr>
        <p:txBody>
          <a:bodyPr wrap="none" lIns="9144" tIns="9144" rIns="9144" bIns="9144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099726-BD41-258C-EF43-78760643E217}"/>
              </a:ext>
            </a:extLst>
          </p:cNvPr>
          <p:cNvCxnSpPr>
            <a:cxnSpLocks/>
          </p:cNvCxnSpPr>
          <p:nvPr/>
        </p:nvCxnSpPr>
        <p:spPr>
          <a:xfrm flipV="1">
            <a:off x="1794869" y="5728177"/>
            <a:ext cx="684808" cy="31921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66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11967</TotalTime>
  <Words>141</Words>
  <Application>Microsoft Macintosh PowerPoint</Application>
  <PresentationFormat>Widescreen</PresentationFormat>
  <Paragraphs>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Yaniv Brandvain</dc:creator>
  <cp:lastModifiedBy>Yaniv Brandvain</cp:lastModifiedBy>
  <cp:revision>4</cp:revision>
  <dcterms:created xsi:type="dcterms:W3CDTF">2025-10-22T19:29:20Z</dcterms:created>
  <dcterms:modified xsi:type="dcterms:W3CDTF">2025-11-14T05:08:54Z</dcterms:modified>
</cp:coreProperties>
</file>